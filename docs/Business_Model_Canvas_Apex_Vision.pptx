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5C"/>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300" kern="0" dirty="0">
                <a:solidFill>
                  <a:srgbClr val="E8A317"/>
                </a:solidFill>
                <a:latin typeface="Calibri" pitchFamily="34" charset="0"/>
                <a:ea typeface="Calibri" pitchFamily="34" charset="-122"/>
                <a:cs typeface="Calibri" pitchFamily="34" charset="-120"/>
              </a:rPr>
              <a:t>BUSINESS MODEL CANVAS</a:t>
            </a:r>
            <a:endParaRPr lang="en-US" sz="1300" dirty="0"/>
          </a:p>
        </p:txBody>
      </p:sp>
      <p:sp>
        <p:nvSpPr>
          <p:cNvPr id="3" name="Text 1"/>
          <p:cNvSpPr txBox="1"/>
          <p:nvPr/>
        </p:nvSpPr>
        <p:spPr>
          <a:xfrm>
            <a:off x="548640" y="777240"/>
            <a:ext cx="841248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College Event Management Platform</a:t>
            </a:r>
            <a:endParaRPr lang="en-US" sz="3800" dirty="0"/>
          </a:p>
        </p:txBody>
      </p:sp>
      <p:sp>
        <p:nvSpPr>
          <p:cNvPr id="4" name="Shape 2"/>
          <p:cNvSpPr/>
          <p:nvPr/>
        </p:nvSpPr>
        <p:spPr>
          <a:xfrm>
            <a:off x="9098280" y="457200"/>
            <a:ext cx="2560320" cy="1097280"/>
          </a:xfrm>
          <a:prstGeom prst="roundRect">
            <a:avLst>
              <a:gd name="adj" fmla="val 6667"/>
            </a:avLst>
          </a:prstGeom>
          <a:solidFill>
            <a:srgbClr val="2B3874"/>
          </a:solidFill>
          <a:ln w="12700">
            <a:solidFill>
              <a:srgbClr val="3D4B8C"/>
            </a:solidFill>
            <a:prstDash val="solid"/>
          </a:ln>
        </p:spPr>
      </p:sp>
      <p:sp>
        <p:nvSpPr>
          <p:cNvPr id="5" name="Text 3"/>
          <p:cNvSpPr txBox="1"/>
          <p:nvPr/>
        </p:nvSpPr>
        <p:spPr>
          <a:xfrm>
            <a:off x="9281160" y="548640"/>
            <a:ext cx="2286000" cy="914400"/>
          </a:xfrm>
          <a:prstGeom prst="rect">
            <a:avLst/>
          </a:prstGeom>
          <a:noFill/>
          <a:ln/>
        </p:spPr>
        <p:txBody>
          <a:bodyPr wrap="square" lIns="0" tIns="0" rIns="0" bIns="0" rtlCol="0" anchor="ctr"/>
          <a:lstStyle/>
          <a:p>
            <a:pPr indent="0" marL="0">
              <a:spcAft>
                <a:spcPts val="300"/>
              </a:spcAft>
              <a:buNone/>
            </a:pPr>
            <a:r>
              <a:rPr lang="en-US" sz="1300" b="1" dirty="0">
                <a:solidFill>
                  <a:srgbClr val="E8A317"/>
                </a:solidFill>
                <a:latin typeface="Calibri" pitchFamily="34" charset="0"/>
                <a:ea typeface="Calibri" pitchFamily="34" charset="-122"/>
                <a:cs typeface="Calibri" pitchFamily="34" charset="-120"/>
              </a:rPr>
              <a:t>Team Name: </a:t>
            </a:r>
            <a:pPr indent="0" marL="0">
              <a:spcAft>
                <a:spcPts val="300"/>
              </a:spcAft>
              <a:buNone/>
            </a:pPr>
            <a:r>
              <a:rPr lang="en-US" sz="1300" dirty="0">
                <a:solidFill>
                  <a:srgbClr val="FFFFFF"/>
                </a:solidFill>
                <a:latin typeface="Calibri" pitchFamily="34" charset="0"/>
                <a:ea typeface="Calibri" pitchFamily="34" charset="-122"/>
                <a:cs typeface="Calibri" pitchFamily="34" charset="-120"/>
              </a:rPr>
              <a:t>Apex Vision</a:t>
            </a:r>
            <a:endParaRPr lang="en-US" sz="1300" dirty="0"/>
          </a:p>
          <a:p>
            <a:pPr indent="0" marL="0">
              <a:spcAft>
                <a:spcPts val="300"/>
              </a:spcAft>
              <a:buNone/>
            </a:pPr>
            <a:r>
              <a:rPr lang="en-US" sz="1300" b="1" dirty="0">
                <a:solidFill>
                  <a:srgbClr val="E8A317"/>
                </a:solidFill>
                <a:latin typeface="Calibri" pitchFamily="34" charset="0"/>
                <a:ea typeface="Calibri" pitchFamily="34" charset="-122"/>
                <a:cs typeface="Calibri" pitchFamily="34" charset="-120"/>
              </a:rPr>
              <a:t>Team Number: </a:t>
            </a:r>
            <a:pPr indent="0" marL="0">
              <a:spcAft>
                <a:spcPts val="300"/>
              </a:spcAft>
              <a:buNone/>
            </a:pPr>
            <a:r>
              <a:rPr lang="en-US" sz="1300" dirty="0">
                <a:solidFill>
                  <a:srgbClr val="FFFFFF"/>
                </a:solidFill>
                <a:latin typeface="Calibri" pitchFamily="34" charset="0"/>
                <a:ea typeface="Calibri" pitchFamily="34" charset="-122"/>
                <a:cs typeface="Calibri" pitchFamily="34" charset="-120"/>
              </a:rPr>
              <a:t>29</a:t>
            </a:r>
            <a:endParaRPr lang="en-US" sz="1300" dirty="0"/>
          </a:p>
          <a:p>
            <a:pPr indent="0" marL="0">
              <a:spcAft>
                <a:spcPts val="300"/>
              </a:spcAft>
              <a:buNone/>
            </a:pPr>
            <a:r>
              <a:rPr lang="en-US" sz="1300" b="1" dirty="0">
                <a:solidFill>
                  <a:srgbClr val="E8A317"/>
                </a:solidFill>
                <a:latin typeface="Calibri" pitchFamily="34" charset="0"/>
                <a:ea typeface="Calibri" pitchFamily="34" charset="-122"/>
                <a:cs typeface="Calibri" pitchFamily="34" charset="-120"/>
              </a:rPr>
              <a:t>Date: </a:t>
            </a:r>
            <a:pPr indent="0" marL="0">
              <a:spcAft>
                <a:spcPts val="300"/>
              </a:spcAft>
              <a:buNone/>
            </a:pPr>
            <a:r>
              <a:rPr lang="en-US" sz="1300" dirty="0">
                <a:solidFill>
                  <a:srgbClr val="FFFFFF"/>
                </a:solidFill>
                <a:latin typeface="Calibri" pitchFamily="34" charset="0"/>
                <a:ea typeface="Calibri" pitchFamily="34" charset="-122"/>
                <a:cs typeface="Calibri" pitchFamily="34" charset="-120"/>
              </a:rPr>
              <a:t>28-09-2026</a:t>
            </a:r>
            <a:endParaRPr lang="en-US" sz="1300" dirty="0"/>
          </a:p>
        </p:txBody>
      </p:sp>
      <p:sp>
        <p:nvSpPr>
          <p:cNvPr id="6" name="Shape 4"/>
          <p:cNvSpPr/>
          <p:nvPr/>
        </p:nvSpPr>
        <p:spPr>
          <a:xfrm>
            <a:off x="548640" y="1920240"/>
            <a:ext cx="5440680" cy="2331720"/>
          </a:xfrm>
          <a:prstGeom prst="roundRect">
            <a:avLst>
              <a:gd name="adj" fmla="val 3922"/>
            </a:avLst>
          </a:prstGeom>
          <a:solidFill>
            <a:srgbClr val="FFFFFF"/>
          </a:solidFill>
          <a:ln w="12700">
            <a:solidFill>
              <a:srgbClr val="FFFFFF"/>
            </a:solidFill>
            <a:prstDash val="solid"/>
          </a:ln>
        </p:spPr>
      </p:sp>
      <p:sp>
        <p:nvSpPr>
          <p:cNvPr id="7" name="Shape 5"/>
          <p:cNvSpPr/>
          <p:nvPr/>
        </p:nvSpPr>
        <p:spPr>
          <a:xfrm>
            <a:off x="822960" y="2148840"/>
            <a:ext cx="384048" cy="384048"/>
          </a:xfrm>
          <a:prstGeom prst="ellipse">
            <a:avLst/>
          </a:prstGeom>
          <a:solidFill>
            <a:srgbClr val="E8A317"/>
          </a:solidFill>
          <a:ln w="12700">
            <a:solidFill>
              <a:srgbClr val="E8A317"/>
            </a:solidFill>
            <a:prstDash val="solid"/>
          </a:ln>
        </p:spPr>
      </p:sp>
      <p:sp>
        <p:nvSpPr>
          <p:cNvPr id="8" name="Text 6"/>
          <p:cNvSpPr txBox="1"/>
          <p:nvPr/>
        </p:nvSpPr>
        <p:spPr>
          <a:xfrm>
            <a:off x="822960" y="2148840"/>
            <a:ext cx="384048" cy="384048"/>
          </a:xfrm>
          <a:prstGeom prst="rect">
            <a:avLst/>
          </a:prstGeom>
          <a:noFill/>
          <a:ln/>
        </p:spPr>
        <p:txBody>
          <a:bodyPr wrap="square" lIns="0" tIns="0" rIns="0" bIns="0" rtlCol="0" anchor="ctr"/>
          <a:lstStyle/>
          <a:p>
            <a:pPr algn="ctr" indent="0" marL="0">
              <a:buNone/>
            </a:pPr>
            <a:r>
              <a:rPr lang="en-US" sz="1600" b="1" dirty="0">
                <a:solidFill>
                  <a:srgbClr val="1F2A5C"/>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1325880" y="2148840"/>
            <a:ext cx="4389120" cy="384048"/>
          </a:xfrm>
          <a:prstGeom prst="rect">
            <a:avLst/>
          </a:prstGeom>
          <a:noFill/>
          <a:ln/>
        </p:spPr>
        <p:txBody>
          <a:bodyPr wrap="square" lIns="0" tIns="0" rIns="0" bIns="0" rtlCol="0" anchor="ctr"/>
          <a:lstStyle/>
          <a:p>
            <a:pPr indent="0" marL="0">
              <a:buNone/>
            </a:pPr>
            <a:r>
              <a:rPr lang="en-US" sz="2000" b="1" dirty="0">
                <a:solidFill>
                  <a:srgbClr val="1F2A5C"/>
                </a:solidFill>
                <a:latin typeface="Cambria" pitchFamily="34" charset="0"/>
                <a:ea typeface="Cambria" pitchFamily="34" charset="-122"/>
                <a:cs typeface="Cambria" pitchFamily="34" charset="-120"/>
              </a:rPr>
              <a:t>Problem Statement</a:t>
            </a:r>
            <a:endParaRPr lang="en-US" sz="2000" dirty="0"/>
          </a:p>
        </p:txBody>
      </p:sp>
      <p:sp>
        <p:nvSpPr>
          <p:cNvPr id="10" name="Text 8"/>
          <p:cNvSpPr txBox="1"/>
          <p:nvPr/>
        </p:nvSpPr>
        <p:spPr>
          <a:xfrm>
            <a:off x="822960" y="2697480"/>
            <a:ext cx="4892040" cy="1417320"/>
          </a:xfrm>
          <a:prstGeom prst="rect">
            <a:avLst/>
          </a:prstGeom>
          <a:noFill/>
          <a:ln/>
        </p:spPr>
        <p:txBody>
          <a:bodyPr wrap="square" lIns="0" tIns="0" rIns="0" bIns="0" rtlCol="0" anchor="t"/>
          <a:lstStyle/>
          <a:p>
            <a:pPr indent="0" marL="0">
              <a:lnSpc>
                <a:spcPct val="110000"/>
              </a:lnSpc>
              <a:buNone/>
            </a:pPr>
            <a:r>
              <a:rPr lang="en-US" sz="1500" dirty="0">
                <a:solidFill>
                  <a:srgbClr val="1B2130"/>
                </a:solidFill>
                <a:latin typeface="Calibri" pitchFamily="34" charset="0"/>
                <a:ea typeface="Calibri" pitchFamily="34" charset="-122"/>
                <a:cs typeface="Calibri" pitchFamily="34" charset="-120"/>
              </a:rPr>
              <a:t>College events are currently managed through multiple disconnected tools such as Google Forms, WhatsApp, Excel, payment platforms, certificate systems and attendance systems, resulting in fragmented data, manual work and inefficient event management.</a:t>
            </a:r>
            <a:endParaRPr lang="en-US" sz="1500" dirty="0"/>
          </a:p>
        </p:txBody>
      </p:sp>
      <p:sp>
        <p:nvSpPr>
          <p:cNvPr id="11" name="Shape 9"/>
          <p:cNvSpPr/>
          <p:nvPr/>
        </p:nvSpPr>
        <p:spPr>
          <a:xfrm>
            <a:off x="6217920" y="1920240"/>
            <a:ext cx="5440680" cy="2331720"/>
          </a:xfrm>
          <a:prstGeom prst="roundRect">
            <a:avLst>
              <a:gd name="adj" fmla="val 3922"/>
            </a:avLst>
          </a:prstGeom>
          <a:solidFill>
            <a:srgbClr val="FFFFFF"/>
          </a:solidFill>
          <a:ln w="12700">
            <a:solidFill>
              <a:srgbClr val="FFFFFF"/>
            </a:solidFill>
            <a:prstDash val="solid"/>
          </a:ln>
        </p:spPr>
      </p:sp>
      <p:sp>
        <p:nvSpPr>
          <p:cNvPr id="12" name="Shape 10"/>
          <p:cNvSpPr/>
          <p:nvPr/>
        </p:nvSpPr>
        <p:spPr>
          <a:xfrm>
            <a:off x="6492240" y="2148840"/>
            <a:ext cx="384048" cy="384048"/>
          </a:xfrm>
          <a:prstGeom prst="ellipse">
            <a:avLst/>
          </a:prstGeom>
          <a:solidFill>
            <a:srgbClr val="E8A317"/>
          </a:solidFill>
          <a:ln w="12700">
            <a:solidFill>
              <a:srgbClr val="E8A317"/>
            </a:solidFill>
            <a:prstDash val="solid"/>
          </a:ln>
        </p:spPr>
      </p:sp>
      <p:sp>
        <p:nvSpPr>
          <p:cNvPr id="13" name="Text 11"/>
          <p:cNvSpPr txBox="1"/>
          <p:nvPr/>
        </p:nvSpPr>
        <p:spPr>
          <a:xfrm>
            <a:off x="6492240" y="2148840"/>
            <a:ext cx="384048" cy="384048"/>
          </a:xfrm>
          <a:prstGeom prst="rect">
            <a:avLst/>
          </a:prstGeom>
          <a:noFill/>
          <a:ln/>
        </p:spPr>
        <p:txBody>
          <a:bodyPr wrap="square" lIns="0" tIns="0" rIns="0" bIns="0" rtlCol="0" anchor="ctr"/>
          <a:lstStyle/>
          <a:p>
            <a:pPr algn="ctr" indent="0" marL="0">
              <a:buNone/>
            </a:pPr>
            <a:r>
              <a:rPr lang="en-US" sz="1600" b="1" dirty="0">
                <a:solidFill>
                  <a:srgbClr val="1F2A5C"/>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6995160" y="2148840"/>
            <a:ext cx="4389120" cy="384048"/>
          </a:xfrm>
          <a:prstGeom prst="rect">
            <a:avLst/>
          </a:prstGeom>
          <a:noFill/>
          <a:ln/>
        </p:spPr>
        <p:txBody>
          <a:bodyPr wrap="square" lIns="0" tIns="0" rIns="0" bIns="0" rtlCol="0" anchor="ctr"/>
          <a:lstStyle/>
          <a:p>
            <a:pPr indent="0" marL="0">
              <a:buNone/>
            </a:pPr>
            <a:r>
              <a:rPr lang="en-US" sz="2000" b="1" dirty="0">
                <a:solidFill>
                  <a:srgbClr val="1F2A5C"/>
                </a:solidFill>
                <a:latin typeface="Cambria" pitchFamily="34" charset="0"/>
                <a:ea typeface="Cambria" pitchFamily="34" charset="-122"/>
                <a:cs typeface="Cambria" pitchFamily="34" charset="-120"/>
              </a:rPr>
              <a:t>Solution</a:t>
            </a:r>
            <a:endParaRPr lang="en-US" sz="2000" dirty="0"/>
          </a:p>
        </p:txBody>
      </p:sp>
      <p:sp>
        <p:nvSpPr>
          <p:cNvPr id="15" name="Text 13"/>
          <p:cNvSpPr txBox="1"/>
          <p:nvPr/>
        </p:nvSpPr>
        <p:spPr>
          <a:xfrm>
            <a:off x="6492240" y="2697480"/>
            <a:ext cx="4892040" cy="1417320"/>
          </a:xfrm>
          <a:prstGeom prst="rect">
            <a:avLst/>
          </a:prstGeom>
          <a:noFill/>
          <a:ln/>
        </p:spPr>
        <p:txBody>
          <a:bodyPr wrap="square" lIns="0" tIns="0" rIns="0" bIns="0" rtlCol="0" anchor="t"/>
          <a:lstStyle/>
          <a:p>
            <a:pPr indent="0" marL="0">
              <a:lnSpc>
                <a:spcPct val="110000"/>
              </a:lnSpc>
              <a:buNone/>
            </a:pPr>
            <a:r>
              <a:rPr lang="en-US" sz="1500" dirty="0">
                <a:solidFill>
                  <a:srgbClr val="1B2130"/>
                </a:solidFill>
                <a:latin typeface="Calibri" pitchFamily="34" charset="0"/>
                <a:ea typeface="Calibri" pitchFamily="34" charset="-122"/>
                <a:cs typeface="Calibri" pitchFamily="34" charset="-120"/>
              </a:rPr>
              <a:t>A centralized College Event Management Platform that manages the complete event lifecycle — from event creation and registration to payments, communication, attendance, certificates, feedback and analytics — in one place.</a:t>
            </a:r>
            <a:endParaRPr lang="en-US" sz="1500" dirty="0"/>
          </a:p>
        </p:txBody>
      </p:sp>
      <p:sp>
        <p:nvSpPr>
          <p:cNvPr id="16" name="Text 14"/>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b="1" spc="200" kern="0" dirty="0">
                <a:solidFill>
                  <a:srgbClr val="E8A317"/>
                </a:solidFill>
                <a:latin typeface="Calibri" pitchFamily="34" charset="0"/>
                <a:ea typeface="Calibri" pitchFamily="34" charset="-122"/>
                <a:cs typeface="Calibri" pitchFamily="34" charset="-120"/>
              </a:rPr>
              <a:t>ONE CONNECTED LIFECYCLE</a:t>
            </a:r>
            <a:endParaRPr lang="en-US" sz="1200" dirty="0"/>
          </a:p>
        </p:txBody>
      </p:sp>
      <p:sp>
        <p:nvSpPr>
          <p:cNvPr id="17" name="Shape 15"/>
          <p:cNvSpPr/>
          <p:nvPr/>
        </p:nvSpPr>
        <p:spPr>
          <a:xfrm>
            <a:off x="548640" y="4983480"/>
            <a:ext cx="1134872" cy="868680"/>
          </a:xfrm>
          <a:prstGeom prst="roundRect">
            <a:avLst>
              <a:gd name="adj" fmla="val 8421"/>
            </a:avLst>
          </a:prstGeom>
          <a:solidFill>
            <a:srgbClr val="2B3874"/>
          </a:solidFill>
          <a:ln w="12700">
            <a:solidFill>
              <a:srgbClr val="3D4B8C"/>
            </a:solidFill>
            <a:prstDash val="solid"/>
          </a:ln>
        </p:spPr>
      </p:sp>
      <p:sp>
        <p:nvSpPr>
          <p:cNvPr id="18" name="Text 16"/>
          <p:cNvSpPr txBox="1"/>
          <p:nvPr/>
        </p:nvSpPr>
        <p:spPr>
          <a:xfrm>
            <a:off x="548640" y="5029200"/>
            <a:ext cx="1134872" cy="320040"/>
          </a:xfrm>
          <a:prstGeom prst="rect">
            <a:avLst/>
          </a:prstGeom>
          <a:noFill/>
          <a:ln/>
        </p:spPr>
        <p:txBody>
          <a:bodyPr wrap="square" lIns="0" tIns="0" rIns="0" bIns="0" rtlCol="0" anchor="ctr"/>
          <a:lstStyle/>
          <a:p>
            <a:pPr algn="ctr" indent="0" marL="0">
              <a:buNone/>
            </a:pPr>
            <a:r>
              <a:rPr lang="en-US" sz="1400" b="1" dirty="0">
                <a:solidFill>
                  <a:srgbClr val="E8A317"/>
                </a:solidFill>
                <a:latin typeface="Cambria" pitchFamily="34" charset="0"/>
                <a:ea typeface="Cambria" pitchFamily="34" charset="-122"/>
                <a:cs typeface="Cambria" pitchFamily="34" charset="-120"/>
              </a:rPr>
              <a:t>1</a:t>
            </a:r>
            <a:endParaRPr lang="en-US" sz="1400" dirty="0"/>
          </a:p>
        </p:txBody>
      </p:sp>
      <p:sp>
        <p:nvSpPr>
          <p:cNvPr id="19" name="Text 17"/>
          <p:cNvSpPr txBox="1"/>
          <p:nvPr/>
        </p:nvSpPr>
        <p:spPr>
          <a:xfrm>
            <a:off x="594360" y="5330952"/>
            <a:ext cx="1043432"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Event Creation</a:t>
            </a:r>
            <a:endParaRPr lang="en-US" sz="1100" dirty="0"/>
          </a:p>
        </p:txBody>
      </p:sp>
      <p:sp>
        <p:nvSpPr>
          <p:cNvPr id="20" name="Shape 18"/>
          <p:cNvSpPr/>
          <p:nvPr/>
        </p:nvSpPr>
        <p:spPr>
          <a:xfrm>
            <a:off x="1793240" y="4983480"/>
            <a:ext cx="1134872" cy="868680"/>
          </a:xfrm>
          <a:prstGeom prst="roundRect">
            <a:avLst>
              <a:gd name="adj" fmla="val 8421"/>
            </a:avLst>
          </a:prstGeom>
          <a:solidFill>
            <a:srgbClr val="2B3874"/>
          </a:solidFill>
          <a:ln w="12700">
            <a:solidFill>
              <a:srgbClr val="3D4B8C"/>
            </a:solidFill>
            <a:prstDash val="solid"/>
          </a:ln>
        </p:spPr>
      </p:sp>
      <p:sp>
        <p:nvSpPr>
          <p:cNvPr id="21" name="Text 19"/>
          <p:cNvSpPr txBox="1"/>
          <p:nvPr/>
        </p:nvSpPr>
        <p:spPr>
          <a:xfrm>
            <a:off x="1793240" y="5029200"/>
            <a:ext cx="1134872" cy="320040"/>
          </a:xfrm>
          <a:prstGeom prst="rect">
            <a:avLst/>
          </a:prstGeom>
          <a:noFill/>
          <a:ln/>
        </p:spPr>
        <p:txBody>
          <a:bodyPr wrap="square" lIns="0" tIns="0" rIns="0" bIns="0" rtlCol="0" anchor="ctr"/>
          <a:lstStyle/>
          <a:p>
            <a:pPr algn="ctr" indent="0" marL="0">
              <a:buNone/>
            </a:pPr>
            <a:r>
              <a:rPr lang="en-US" sz="1400" b="1" dirty="0">
                <a:solidFill>
                  <a:srgbClr val="E8A317"/>
                </a:solidFill>
                <a:latin typeface="Cambria" pitchFamily="34" charset="0"/>
                <a:ea typeface="Cambria" pitchFamily="34" charset="-122"/>
                <a:cs typeface="Cambria" pitchFamily="34" charset="-120"/>
              </a:rPr>
              <a:t>2</a:t>
            </a:r>
            <a:endParaRPr lang="en-US" sz="1400" dirty="0"/>
          </a:p>
        </p:txBody>
      </p:sp>
      <p:sp>
        <p:nvSpPr>
          <p:cNvPr id="22" name="Text 20"/>
          <p:cNvSpPr txBox="1"/>
          <p:nvPr/>
        </p:nvSpPr>
        <p:spPr>
          <a:xfrm>
            <a:off x="1838960" y="5330952"/>
            <a:ext cx="1043432"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Approval</a:t>
            </a:r>
            <a:endParaRPr lang="en-US" sz="1100" dirty="0"/>
          </a:p>
        </p:txBody>
      </p:sp>
      <p:sp>
        <p:nvSpPr>
          <p:cNvPr id="23" name="Shape 21"/>
          <p:cNvSpPr/>
          <p:nvPr/>
        </p:nvSpPr>
        <p:spPr>
          <a:xfrm>
            <a:off x="3037840" y="4983480"/>
            <a:ext cx="1134872" cy="868680"/>
          </a:xfrm>
          <a:prstGeom prst="roundRect">
            <a:avLst>
              <a:gd name="adj" fmla="val 8421"/>
            </a:avLst>
          </a:prstGeom>
          <a:solidFill>
            <a:srgbClr val="2B3874"/>
          </a:solidFill>
          <a:ln w="12700">
            <a:solidFill>
              <a:srgbClr val="3D4B8C"/>
            </a:solidFill>
            <a:prstDash val="solid"/>
          </a:ln>
        </p:spPr>
      </p:sp>
      <p:sp>
        <p:nvSpPr>
          <p:cNvPr id="24" name="Text 22"/>
          <p:cNvSpPr txBox="1"/>
          <p:nvPr/>
        </p:nvSpPr>
        <p:spPr>
          <a:xfrm>
            <a:off x="3037840" y="5029200"/>
            <a:ext cx="1134872" cy="320040"/>
          </a:xfrm>
          <a:prstGeom prst="rect">
            <a:avLst/>
          </a:prstGeom>
          <a:noFill/>
          <a:ln/>
        </p:spPr>
        <p:txBody>
          <a:bodyPr wrap="square" lIns="0" tIns="0" rIns="0" bIns="0" rtlCol="0" anchor="ctr"/>
          <a:lstStyle/>
          <a:p>
            <a:pPr algn="ctr" indent="0" marL="0">
              <a:buNone/>
            </a:pPr>
            <a:r>
              <a:rPr lang="en-US" sz="1400" b="1" dirty="0">
                <a:solidFill>
                  <a:srgbClr val="E8A317"/>
                </a:solidFill>
                <a:latin typeface="Cambria" pitchFamily="34" charset="0"/>
                <a:ea typeface="Cambria" pitchFamily="34" charset="-122"/>
                <a:cs typeface="Cambria" pitchFamily="34" charset="-120"/>
              </a:rPr>
              <a:t>3</a:t>
            </a:r>
            <a:endParaRPr lang="en-US" sz="1400" dirty="0"/>
          </a:p>
        </p:txBody>
      </p:sp>
      <p:sp>
        <p:nvSpPr>
          <p:cNvPr id="25" name="Text 23"/>
          <p:cNvSpPr txBox="1"/>
          <p:nvPr/>
        </p:nvSpPr>
        <p:spPr>
          <a:xfrm>
            <a:off x="3083560" y="5330952"/>
            <a:ext cx="1043432"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Registration</a:t>
            </a:r>
            <a:endParaRPr lang="en-US" sz="1100" dirty="0"/>
          </a:p>
        </p:txBody>
      </p:sp>
      <p:sp>
        <p:nvSpPr>
          <p:cNvPr id="26" name="Shape 24"/>
          <p:cNvSpPr/>
          <p:nvPr/>
        </p:nvSpPr>
        <p:spPr>
          <a:xfrm>
            <a:off x="4282440" y="4983480"/>
            <a:ext cx="1134872" cy="868680"/>
          </a:xfrm>
          <a:prstGeom prst="roundRect">
            <a:avLst>
              <a:gd name="adj" fmla="val 8421"/>
            </a:avLst>
          </a:prstGeom>
          <a:solidFill>
            <a:srgbClr val="2B3874"/>
          </a:solidFill>
          <a:ln w="12700">
            <a:solidFill>
              <a:srgbClr val="3D4B8C"/>
            </a:solidFill>
            <a:prstDash val="solid"/>
          </a:ln>
        </p:spPr>
      </p:sp>
      <p:sp>
        <p:nvSpPr>
          <p:cNvPr id="27" name="Text 25"/>
          <p:cNvSpPr txBox="1"/>
          <p:nvPr/>
        </p:nvSpPr>
        <p:spPr>
          <a:xfrm>
            <a:off x="4282440" y="5029200"/>
            <a:ext cx="1134872" cy="320040"/>
          </a:xfrm>
          <a:prstGeom prst="rect">
            <a:avLst/>
          </a:prstGeom>
          <a:noFill/>
          <a:ln/>
        </p:spPr>
        <p:txBody>
          <a:bodyPr wrap="square" lIns="0" tIns="0" rIns="0" bIns="0" rtlCol="0" anchor="ctr"/>
          <a:lstStyle/>
          <a:p>
            <a:pPr algn="ctr" indent="0" marL="0">
              <a:buNone/>
            </a:pPr>
            <a:r>
              <a:rPr lang="en-US" sz="1400" b="1" dirty="0">
                <a:solidFill>
                  <a:srgbClr val="E8A317"/>
                </a:solidFill>
                <a:latin typeface="Cambria" pitchFamily="34" charset="0"/>
                <a:ea typeface="Cambria" pitchFamily="34" charset="-122"/>
                <a:cs typeface="Cambria" pitchFamily="34" charset="-120"/>
              </a:rPr>
              <a:t>4</a:t>
            </a:r>
            <a:endParaRPr lang="en-US" sz="1400" dirty="0"/>
          </a:p>
        </p:txBody>
      </p:sp>
      <p:sp>
        <p:nvSpPr>
          <p:cNvPr id="28" name="Text 26"/>
          <p:cNvSpPr txBox="1"/>
          <p:nvPr/>
        </p:nvSpPr>
        <p:spPr>
          <a:xfrm>
            <a:off x="4328160" y="5330952"/>
            <a:ext cx="1043432"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Payment</a:t>
            </a:r>
            <a:endParaRPr lang="en-US" sz="1100" dirty="0"/>
          </a:p>
        </p:txBody>
      </p:sp>
      <p:sp>
        <p:nvSpPr>
          <p:cNvPr id="29" name="Shape 27"/>
          <p:cNvSpPr/>
          <p:nvPr/>
        </p:nvSpPr>
        <p:spPr>
          <a:xfrm>
            <a:off x="5527040" y="4983480"/>
            <a:ext cx="1134872" cy="868680"/>
          </a:xfrm>
          <a:prstGeom prst="roundRect">
            <a:avLst>
              <a:gd name="adj" fmla="val 8421"/>
            </a:avLst>
          </a:prstGeom>
          <a:solidFill>
            <a:srgbClr val="2B3874"/>
          </a:solidFill>
          <a:ln w="12700">
            <a:solidFill>
              <a:srgbClr val="3D4B8C"/>
            </a:solidFill>
            <a:prstDash val="solid"/>
          </a:ln>
        </p:spPr>
      </p:sp>
      <p:sp>
        <p:nvSpPr>
          <p:cNvPr id="30" name="Text 28"/>
          <p:cNvSpPr txBox="1"/>
          <p:nvPr/>
        </p:nvSpPr>
        <p:spPr>
          <a:xfrm>
            <a:off x="5527040" y="5029200"/>
            <a:ext cx="1134872" cy="320040"/>
          </a:xfrm>
          <a:prstGeom prst="rect">
            <a:avLst/>
          </a:prstGeom>
          <a:noFill/>
          <a:ln/>
        </p:spPr>
        <p:txBody>
          <a:bodyPr wrap="square" lIns="0" tIns="0" rIns="0" bIns="0" rtlCol="0" anchor="ctr"/>
          <a:lstStyle/>
          <a:p>
            <a:pPr algn="ctr" indent="0" marL="0">
              <a:buNone/>
            </a:pPr>
            <a:r>
              <a:rPr lang="en-US" sz="1400" b="1" dirty="0">
                <a:solidFill>
                  <a:srgbClr val="E8A317"/>
                </a:solidFill>
                <a:latin typeface="Cambria" pitchFamily="34" charset="0"/>
                <a:ea typeface="Cambria" pitchFamily="34" charset="-122"/>
                <a:cs typeface="Cambria" pitchFamily="34" charset="-120"/>
              </a:rPr>
              <a:t>5</a:t>
            </a:r>
            <a:endParaRPr lang="en-US" sz="1400" dirty="0"/>
          </a:p>
        </p:txBody>
      </p:sp>
      <p:sp>
        <p:nvSpPr>
          <p:cNvPr id="31" name="Text 29"/>
          <p:cNvSpPr txBox="1"/>
          <p:nvPr/>
        </p:nvSpPr>
        <p:spPr>
          <a:xfrm>
            <a:off x="5572760" y="5330952"/>
            <a:ext cx="1043432"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Communication</a:t>
            </a:r>
            <a:endParaRPr lang="en-US" sz="1100" dirty="0"/>
          </a:p>
        </p:txBody>
      </p:sp>
      <p:sp>
        <p:nvSpPr>
          <p:cNvPr id="32" name="Shape 30"/>
          <p:cNvSpPr/>
          <p:nvPr/>
        </p:nvSpPr>
        <p:spPr>
          <a:xfrm>
            <a:off x="6771640" y="4983480"/>
            <a:ext cx="1134872" cy="868680"/>
          </a:xfrm>
          <a:prstGeom prst="roundRect">
            <a:avLst>
              <a:gd name="adj" fmla="val 8421"/>
            </a:avLst>
          </a:prstGeom>
          <a:solidFill>
            <a:srgbClr val="2B3874"/>
          </a:solidFill>
          <a:ln w="12700">
            <a:solidFill>
              <a:srgbClr val="3D4B8C"/>
            </a:solidFill>
            <a:prstDash val="solid"/>
          </a:ln>
        </p:spPr>
      </p:sp>
      <p:sp>
        <p:nvSpPr>
          <p:cNvPr id="33" name="Text 31"/>
          <p:cNvSpPr txBox="1"/>
          <p:nvPr/>
        </p:nvSpPr>
        <p:spPr>
          <a:xfrm>
            <a:off x="6771640" y="5029200"/>
            <a:ext cx="1134872" cy="320040"/>
          </a:xfrm>
          <a:prstGeom prst="rect">
            <a:avLst/>
          </a:prstGeom>
          <a:noFill/>
          <a:ln/>
        </p:spPr>
        <p:txBody>
          <a:bodyPr wrap="square" lIns="0" tIns="0" rIns="0" bIns="0" rtlCol="0" anchor="ctr"/>
          <a:lstStyle/>
          <a:p>
            <a:pPr algn="ctr" indent="0" marL="0">
              <a:buNone/>
            </a:pPr>
            <a:r>
              <a:rPr lang="en-US" sz="1400" b="1" dirty="0">
                <a:solidFill>
                  <a:srgbClr val="E8A317"/>
                </a:solidFill>
                <a:latin typeface="Cambria" pitchFamily="34" charset="0"/>
                <a:ea typeface="Cambria" pitchFamily="34" charset="-122"/>
                <a:cs typeface="Cambria" pitchFamily="34" charset="-120"/>
              </a:rPr>
              <a:t>6</a:t>
            </a:r>
            <a:endParaRPr lang="en-US" sz="1400" dirty="0"/>
          </a:p>
        </p:txBody>
      </p:sp>
      <p:sp>
        <p:nvSpPr>
          <p:cNvPr id="34" name="Text 32"/>
          <p:cNvSpPr txBox="1"/>
          <p:nvPr/>
        </p:nvSpPr>
        <p:spPr>
          <a:xfrm>
            <a:off x="6817360" y="5330952"/>
            <a:ext cx="1043432"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QR Attendance</a:t>
            </a:r>
            <a:endParaRPr lang="en-US" sz="1100" dirty="0"/>
          </a:p>
        </p:txBody>
      </p:sp>
      <p:sp>
        <p:nvSpPr>
          <p:cNvPr id="35" name="Shape 33"/>
          <p:cNvSpPr/>
          <p:nvPr/>
        </p:nvSpPr>
        <p:spPr>
          <a:xfrm>
            <a:off x="8016240" y="4983480"/>
            <a:ext cx="1134872" cy="868680"/>
          </a:xfrm>
          <a:prstGeom prst="roundRect">
            <a:avLst>
              <a:gd name="adj" fmla="val 8421"/>
            </a:avLst>
          </a:prstGeom>
          <a:solidFill>
            <a:srgbClr val="2B3874"/>
          </a:solidFill>
          <a:ln w="12700">
            <a:solidFill>
              <a:srgbClr val="3D4B8C"/>
            </a:solidFill>
            <a:prstDash val="solid"/>
          </a:ln>
        </p:spPr>
      </p:sp>
      <p:sp>
        <p:nvSpPr>
          <p:cNvPr id="36" name="Text 34"/>
          <p:cNvSpPr txBox="1"/>
          <p:nvPr/>
        </p:nvSpPr>
        <p:spPr>
          <a:xfrm>
            <a:off x="8016240" y="5029200"/>
            <a:ext cx="1134872" cy="320040"/>
          </a:xfrm>
          <a:prstGeom prst="rect">
            <a:avLst/>
          </a:prstGeom>
          <a:noFill/>
          <a:ln/>
        </p:spPr>
        <p:txBody>
          <a:bodyPr wrap="square" lIns="0" tIns="0" rIns="0" bIns="0" rtlCol="0" anchor="ctr"/>
          <a:lstStyle/>
          <a:p>
            <a:pPr algn="ctr" indent="0" marL="0">
              <a:buNone/>
            </a:pPr>
            <a:r>
              <a:rPr lang="en-US" sz="1400" b="1" dirty="0">
                <a:solidFill>
                  <a:srgbClr val="E8A317"/>
                </a:solidFill>
                <a:latin typeface="Cambria" pitchFamily="34" charset="0"/>
                <a:ea typeface="Cambria" pitchFamily="34" charset="-122"/>
                <a:cs typeface="Cambria" pitchFamily="34" charset="-120"/>
              </a:rPr>
              <a:t>7</a:t>
            </a:r>
            <a:endParaRPr lang="en-US" sz="1400" dirty="0"/>
          </a:p>
        </p:txBody>
      </p:sp>
      <p:sp>
        <p:nvSpPr>
          <p:cNvPr id="37" name="Text 35"/>
          <p:cNvSpPr txBox="1"/>
          <p:nvPr/>
        </p:nvSpPr>
        <p:spPr>
          <a:xfrm>
            <a:off x="8061960" y="5330952"/>
            <a:ext cx="1043432"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Feedback</a:t>
            </a:r>
            <a:endParaRPr lang="en-US" sz="1100" dirty="0"/>
          </a:p>
        </p:txBody>
      </p:sp>
      <p:sp>
        <p:nvSpPr>
          <p:cNvPr id="38" name="Shape 36"/>
          <p:cNvSpPr/>
          <p:nvPr/>
        </p:nvSpPr>
        <p:spPr>
          <a:xfrm>
            <a:off x="9260840" y="4983480"/>
            <a:ext cx="1134872" cy="868680"/>
          </a:xfrm>
          <a:prstGeom prst="roundRect">
            <a:avLst>
              <a:gd name="adj" fmla="val 8421"/>
            </a:avLst>
          </a:prstGeom>
          <a:solidFill>
            <a:srgbClr val="2B3874"/>
          </a:solidFill>
          <a:ln w="12700">
            <a:solidFill>
              <a:srgbClr val="3D4B8C"/>
            </a:solidFill>
            <a:prstDash val="solid"/>
          </a:ln>
        </p:spPr>
      </p:sp>
      <p:sp>
        <p:nvSpPr>
          <p:cNvPr id="39" name="Text 37"/>
          <p:cNvSpPr txBox="1"/>
          <p:nvPr/>
        </p:nvSpPr>
        <p:spPr>
          <a:xfrm>
            <a:off x="9260840" y="5029200"/>
            <a:ext cx="1134872" cy="320040"/>
          </a:xfrm>
          <a:prstGeom prst="rect">
            <a:avLst/>
          </a:prstGeom>
          <a:noFill/>
          <a:ln/>
        </p:spPr>
        <p:txBody>
          <a:bodyPr wrap="square" lIns="0" tIns="0" rIns="0" bIns="0" rtlCol="0" anchor="ctr"/>
          <a:lstStyle/>
          <a:p>
            <a:pPr algn="ctr" indent="0" marL="0">
              <a:buNone/>
            </a:pPr>
            <a:r>
              <a:rPr lang="en-US" sz="1400" b="1" dirty="0">
                <a:solidFill>
                  <a:srgbClr val="E8A317"/>
                </a:solidFill>
                <a:latin typeface="Cambria" pitchFamily="34" charset="0"/>
                <a:ea typeface="Cambria" pitchFamily="34" charset="-122"/>
                <a:cs typeface="Cambria" pitchFamily="34" charset="-120"/>
              </a:rPr>
              <a:t>8</a:t>
            </a:r>
            <a:endParaRPr lang="en-US" sz="1400" dirty="0"/>
          </a:p>
        </p:txBody>
      </p:sp>
      <p:sp>
        <p:nvSpPr>
          <p:cNvPr id="40" name="Text 38"/>
          <p:cNvSpPr txBox="1"/>
          <p:nvPr/>
        </p:nvSpPr>
        <p:spPr>
          <a:xfrm>
            <a:off x="9306560" y="5330952"/>
            <a:ext cx="1043432"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Certificates</a:t>
            </a:r>
            <a:endParaRPr lang="en-US" sz="1100" dirty="0"/>
          </a:p>
        </p:txBody>
      </p:sp>
      <p:sp>
        <p:nvSpPr>
          <p:cNvPr id="41" name="Shape 39"/>
          <p:cNvSpPr/>
          <p:nvPr/>
        </p:nvSpPr>
        <p:spPr>
          <a:xfrm>
            <a:off x="10505440" y="4983480"/>
            <a:ext cx="1134872" cy="868680"/>
          </a:xfrm>
          <a:prstGeom prst="roundRect">
            <a:avLst>
              <a:gd name="adj" fmla="val 8421"/>
            </a:avLst>
          </a:prstGeom>
          <a:solidFill>
            <a:srgbClr val="2B3874"/>
          </a:solidFill>
          <a:ln w="12700">
            <a:solidFill>
              <a:srgbClr val="3D4B8C"/>
            </a:solidFill>
            <a:prstDash val="solid"/>
          </a:ln>
        </p:spPr>
      </p:sp>
      <p:sp>
        <p:nvSpPr>
          <p:cNvPr id="42" name="Text 40"/>
          <p:cNvSpPr txBox="1"/>
          <p:nvPr/>
        </p:nvSpPr>
        <p:spPr>
          <a:xfrm>
            <a:off x="10505440" y="5029200"/>
            <a:ext cx="1134872" cy="320040"/>
          </a:xfrm>
          <a:prstGeom prst="rect">
            <a:avLst/>
          </a:prstGeom>
          <a:noFill/>
          <a:ln/>
        </p:spPr>
        <p:txBody>
          <a:bodyPr wrap="square" lIns="0" tIns="0" rIns="0" bIns="0" rtlCol="0" anchor="ctr"/>
          <a:lstStyle/>
          <a:p>
            <a:pPr algn="ctr" indent="0" marL="0">
              <a:buNone/>
            </a:pPr>
            <a:r>
              <a:rPr lang="en-US" sz="1400" b="1" dirty="0">
                <a:solidFill>
                  <a:srgbClr val="E8A317"/>
                </a:solidFill>
                <a:latin typeface="Cambria" pitchFamily="34" charset="0"/>
                <a:ea typeface="Cambria" pitchFamily="34" charset="-122"/>
                <a:cs typeface="Cambria" pitchFamily="34" charset="-120"/>
              </a:rPr>
              <a:t>9</a:t>
            </a:r>
            <a:endParaRPr lang="en-US" sz="1400" dirty="0"/>
          </a:p>
        </p:txBody>
      </p:sp>
      <p:sp>
        <p:nvSpPr>
          <p:cNvPr id="43" name="Text 41"/>
          <p:cNvSpPr txBox="1"/>
          <p:nvPr/>
        </p:nvSpPr>
        <p:spPr>
          <a:xfrm>
            <a:off x="10551160" y="5330952"/>
            <a:ext cx="1043432"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Analytics &amp; Reports</a:t>
            </a:r>
            <a:endParaRPr lang="en-US" sz="1100" dirty="0"/>
          </a:p>
        </p:txBody>
      </p:sp>
      <p:sp>
        <p:nvSpPr>
          <p:cNvPr id="44" name="Text 42"/>
          <p:cNvSpPr txBox="1"/>
          <p:nvPr/>
        </p:nvSpPr>
        <p:spPr>
          <a:xfrm>
            <a:off x="548640" y="6126480"/>
            <a:ext cx="11091672" cy="320040"/>
          </a:xfrm>
          <a:prstGeom prst="rect">
            <a:avLst/>
          </a:prstGeom>
          <a:noFill/>
          <a:ln/>
        </p:spPr>
        <p:txBody>
          <a:bodyPr wrap="square" lIns="0" tIns="0" rIns="0" bIns="0" rtlCol="0" anchor="ctr"/>
          <a:lstStyle/>
          <a:p>
            <a:pPr indent="0" marL="0">
              <a:buNone/>
            </a:pPr>
            <a:r>
              <a:rPr lang="en-US" sz="1200" i="1" dirty="0">
                <a:solidFill>
                  <a:srgbClr val="C9D1EE"/>
                </a:solidFill>
                <a:latin typeface="Calibri" pitchFamily="34" charset="0"/>
                <a:ea typeface="Calibri" pitchFamily="34" charset="-122"/>
                <a:cs typeface="Calibri" pitchFamily="34" charset="-120"/>
              </a:rPr>
              <a:t>Replaces Google Forms · WhatsApp · Excel · separate payment, attendance and certificate tools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64592"/>
            <a:ext cx="5943600" cy="457200"/>
          </a:xfrm>
          <a:prstGeom prst="rect">
            <a:avLst/>
          </a:prstGeom>
          <a:noFill/>
          <a:ln/>
        </p:spPr>
        <p:txBody>
          <a:bodyPr wrap="square" lIns="0" tIns="0" rIns="0" bIns="0" rtlCol="0" anchor="ctr"/>
          <a:lstStyle/>
          <a:p>
            <a:pPr indent="0" marL="0">
              <a:buNone/>
            </a:pPr>
            <a:r>
              <a:rPr lang="en-US" sz="2400" b="1" dirty="0">
                <a:solidFill>
                  <a:srgbClr val="1F2A5C"/>
                </a:solidFill>
                <a:latin typeface="Cambria" pitchFamily="34" charset="0"/>
                <a:ea typeface="Cambria" pitchFamily="34" charset="-122"/>
                <a:cs typeface="Cambria" pitchFamily="34" charset="-120"/>
              </a:rPr>
              <a:t>Business Model Canvas</a:t>
            </a:r>
            <a:endParaRPr lang="en-US" sz="2400" dirty="0"/>
          </a:p>
        </p:txBody>
      </p:sp>
      <p:sp>
        <p:nvSpPr>
          <p:cNvPr id="3" name="Text 1"/>
          <p:cNvSpPr txBox="1"/>
          <p:nvPr/>
        </p:nvSpPr>
        <p:spPr>
          <a:xfrm>
            <a:off x="6400800" y="137160"/>
            <a:ext cx="5468112" cy="530352"/>
          </a:xfrm>
          <a:prstGeom prst="rect">
            <a:avLst/>
          </a:prstGeom>
          <a:noFill/>
          <a:ln/>
        </p:spPr>
        <p:txBody>
          <a:bodyPr wrap="square" lIns="0" tIns="0" rIns="0" bIns="0" rtlCol="0" anchor="ctr"/>
          <a:lstStyle/>
          <a:p>
            <a:pPr algn="r" indent="0" marL="0">
              <a:buNone/>
            </a:pPr>
            <a:r>
              <a:rPr lang="en-US" sz="1150" b="1" dirty="0">
                <a:solidFill>
                  <a:srgbClr val="1B2130"/>
                </a:solidFill>
                <a:latin typeface="Calibri" pitchFamily="34" charset="0"/>
                <a:ea typeface="Calibri" pitchFamily="34" charset="-122"/>
                <a:cs typeface="Calibri" pitchFamily="34" charset="-120"/>
              </a:rPr>
              <a:t>College Event Management Platform</a:t>
            </a:r>
            <a:endParaRPr lang="en-US" sz="1150" dirty="0"/>
          </a:p>
          <a:p>
            <a:pPr algn="r" indent="0" marL="0">
              <a:buNone/>
            </a:pPr>
            <a:r>
              <a:rPr lang="en-US" sz="1150" dirty="0">
                <a:solidFill>
                  <a:srgbClr val="5A6275"/>
                </a:solidFill>
                <a:latin typeface="Calibri" pitchFamily="34" charset="0"/>
                <a:ea typeface="Calibri" pitchFamily="34" charset="-122"/>
                <a:cs typeface="Calibri" pitchFamily="34" charset="-120"/>
              </a:rPr>
              <a:t>Team Apex Vision  ·  Team No. 29  ·  28-09-2026</a:t>
            </a:r>
            <a:endParaRPr lang="en-US" sz="1150" dirty="0"/>
          </a:p>
        </p:txBody>
      </p:sp>
      <p:sp>
        <p:nvSpPr>
          <p:cNvPr id="4" name="Shape 2"/>
          <p:cNvSpPr/>
          <p:nvPr/>
        </p:nvSpPr>
        <p:spPr>
          <a:xfrm>
            <a:off x="320040" y="777240"/>
            <a:ext cx="2310323" cy="4526280"/>
          </a:xfrm>
          <a:prstGeom prst="rect">
            <a:avLst/>
          </a:prstGeom>
          <a:solidFill>
            <a:srgbClr val="FFFFFF"/>
          </a:solidFill>
          <a:ln w="12700">
            <a:solidFill>
              <a:srgbClr val="C9CFDD"/>
            </a:solidFill>
            <a:prstDash val="solid"/>
          </a:ln>
        </p:spPr>
      </p:sp>
      <p:sp>
        <p:nvSpPr>
          <p:cNvPr id="5" name="Shape 3"/>
          <p:cNvSpPr/>
          <p:nvPr/>
        </p:nvSpPr>
        <p:spPr>
          <a:xfrm>
            <a:off x="320040" y="777240"/>
            <a:ext cx="2310323" cy="365760"/>
          </a:xfrm>
          <a:prstGeom prst="rect">
            <a:avLst/>
          </a:prstGeom>
          <a:solidFill>
            <a:srgbClr val="EEF1FA"/>
          </a:solidFill>
          <a:ln w="12700">
            <a:solidFill>
              <a:srgbClr val="C9CFDD"/>
            </a:solidFill>
            <a:prstDash val="solid"/>
          </a:ln>
        </p:spPr>
      </p:sp>
      <p:sp>
        <p:nvSpPr>
          <p:cNvPr id="6" name="Shape 4"/>
          <p:cNvSpPr/>
          <p:nvPr/>
        </p:nvSpPr>
        <p:spPr>
          <a:xfrm>
            <a:off x="411480" y="841248"/>
            <a:ext cx="237744" cy="237744"/>
          </a:xfrm>
          <a:prstGeom prst="ellipse">
            <a:avLst/>
          </a:prstGeom>
          <a:solidFill>
            <a:srgbClr val="1F2A5C"/>
          </a:solidFill>
          <a:ln w="12700">
            <a:solidFill>
              <a:srgbClr val="1F2A5C"/>
            </a:solidFill>
            <a:prstDash val="solid"/>
          </a:ln>
        </p:spPr>
      </p:sp>
      <p:sp>
        <p:nvSpPr>
          <p:cNvPr id="7" name="Text 5"/>
          <p:cNvSpPr txBox="1"/>
          <p:nvPr/>
        </p:nvSpPr>
        <p:spPr>
          <a:xfrm>
            <a:off x="411480" y="84124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8</a:t>
            </a:r>
            <a:endParaRPr lang="en-US" sz="950" dirty="0"/>
          </a:p>
        </p:txBody>
      </p:sp>
      <p:sp>
        <p:nvSpPr>
          <p:cNvPr id="8" name="Text 6"/>
          <p:cNvSpPr txBox="1"/>
          <p:nvPr/>
        </p:nvSpPr>
        <p:spPr>
          <a:xfrm>
            <a:off x="722376" y="777240"/>
            <a:ext cx="1853123" cy="365760"/>
          </a:xfrm>
          <a:prstGeom prst="rect">
            <a:avLst/>
          </a:prstGeom>
          <a:noFill/>
          <a:ln/>
        </p:spPr>
        <p:txBody>
          <a:bodyPr wrap="square" lIns="0" tIns="0" rIns="0" bIns="0" rtlCol="0" anchor="ctr"/>
          <a:lstStyle/>
          <a:p>
            <a:pPr indent="0" marL="0">
              <a:buNone/>
            </a:pPr>
            <a:r>
              <a:rPr lang="en-US" sz="1200" b="1" dirty="0">
                <a:solidFill>
                  <a:srgbClr val="1F2A5C"/>
                </a:solidFill>
                <a:latin typeface="Cambria" pitchFamily="34" charset="0"/>
                <a:ea typeface="Cambria" pitchFamily="34" charset="-122"/>
                <a:cs typeface="Cambria" pitchFamily="34" charset="-120"/>
              </a:rPr>
              <a:t>Key Partners</a:t>
            </a:r>
            <a:endParaRPr lang="en-US" sz="1200" dirty="0"/>
          </a:p>
        </p:txBody>
      </p:sp>
      <p:sp>
        <p:nvSpPr>
          <p:cNvPr id="9" name="Text 7"/>
          <p:cNvSpPr txBox="1"/>
          <p:nvPr/>
        </p:nvSpPr>
        <p:spPr>
          <a:xfrm>
            <a:off x="411480" y="1207008"/>
            <a:ext cx="2081723" cy="4023360"/>
          </a:xfrm>
          <a:prstGeom prst="rect">
            <a:avLst/>
          </a:prstGeom>
          <a:noFill/>
          <a:ln/>
        </p:spPr>
        <p:txBody>
          <a:bodyPr wrap="square" lIns="0" tIns="0" rIns="0" bIns="0" rtlCol="0" anchor="t"/>
          <a:lstStyle/>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Colleges &amp; Universities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Student Clubs &amp; Committees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Payment Gateway Providers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Cloud &amp; Notification Service Providers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Certificate / Printing Partners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Faculty &amp; Event Coordinators</a:t>
            </a:r>
            <a:endParaRPr lang="en-US" sz="1050" dirty="0"/>
          </a:p>
        </p:txBody>
      </p:sp>
      <p:sp>
        <p:nvSpPr>
          <p:cNvPr id="10" name="Shape 8"/>
          <p:cNvSpPr/>
          <p:nvPr/>
        </p:nvSpPr>
        <p:spPr>
          <a:xfrm>
            <a:off x="2630363" y="777240"/>
            <a:ext cx="2310323" cy="2263140"/>
          </a:xfrm>
          <a:prstGeom prst="rect">
            <a:avLst/>
          </a:prstGeom>
          <a:solidFill>
            <a:srgbClr val="FFFFFF"/>
          </a:solidFill>
          <a:ln w="12700">
            <a:solidFill>
              <a:srgbClr val="C9CFDD"/>
            </a:solidFill>
            <a:prstDash val="solid"/>
          </a:ln>
        </p:spPr>
      </p:sp>
      <p:sp>
        <p:nvSpPr>
          <p:cNvPr id="11" name="Shape 9"/>
          <p:cNvSpPr/>
          <p:nvPr/>
        </p:nvSpPr>
        <p:spPr>
          <a:xfrm>
            <a:off x="2630363" y="777240"/>
            <a:ext cx="2310323" cy="365760"/>
          </a:xfrm>
          <a:prstGeom prst="rect">
            <a:avLst/>
          </a:prstGeom>
          <a:solidFill>
            <a:srgbClr val="EEF1FA"/>
          </a:solidFill>
          <a:ln w="12700">
            <a:solidFill>
              <a:srgbClr val="C9CFDD"/>
            </a:solidFill>
            <a:prstDash val="solid"/>
          </a:ln>
        </p:spPr>
      </p:sp>
      <p:sp>
        <p:nvSpPr>
          <p:cNvPr id="12" name="Shape 10"/>
          <p:cNvSpPr/>
          <p:nvPr/>
        </p:nvSpPr>
        <p:spPr>
          <a:xfrm>
            <a:off x="2721803" y="841248"/>
            <a:ext cx="237744" cy="237744"/>
          </a:xfrm>
          <a:prstGeom prst="ellipse">
            <a:avLst/>
          </a:prstGeom>
          <a:solidFill>
            <a:srgbClr val="1F2A5C"/>
          </a:solidFill>
          <a:ln w="12700">
            <a:solidFill>
              <a:srgbClr val="1F2A5C"/>
            </a:solidFill>
            <a:prstDash val="solid"/>
          </a:ln>
        </p:spPr>
      </p:sp>
      <p:sp>
        <p:nvSpPr>
          <p:cNvPr id="13" name="Text 11"/>
          <p:cNvSpPr txBox="1"/>
          <p:nvPr/>
        </p:nvSpPr>
        <p:spPr>
          <a:xfrm>
            <a:off x="2721803" y="84124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a:t>
            </a:r>
            <a:endParaRPr lang="en-US" sz="950" dirty="0"/>
          </a:p>
        </p:txBody>
      </p:sp>
      <p:sp>
        <p:nvSpPr>
          <p:cNvPr id="14" name="Text 12"/>
          <p:cNvSpPr txBox="1"/>
          <p:nvPr/>
        </p:nvSpPr>
        <p:spPr>
          <a:xfrm>
            <a:off x="3032699" y="777240"/>
            <a:ext cx="1853123" cy="365760"/>
          </a:xfrm>
          <a:prstGeom prst="rect">
            <a:avLst/>
          </a:prstGeom>
          <a:noFill/>
          <a:ln/>
        </p:spPr>
        <p:txBody>
          <a:bodyPr wrap="square" lIns="0" tIns="0" rIns="0" bIns="0" rtlCol="0" anchor="ctr"/>
          <a:lstStyle/>
          <a:p>
            <a:pPr indent="0" marL="0">
              <a:buNone/>
            </a:pPr>
            <a:r>
              <a:rPr lang="en-US" sz="1200" b="1" dirty="0">
                <a:solidFill>
                  <a:srgbClr val="1F2A5C"/>
                </a:solidFill>
                <a:latin typeface="Cambria" pitchFamily="34" charset="0"/>
                <a:ea typeface="Cambria" pitchFamily="34" charset="-122"/>
                <a:cs typeface="Cambria" pitchFamily="34" charset="-120"/>
              </a:rPr>
              <a:t>Key Activities</a:t>
            </a:r>
            <a:endParaRPr lang="en-US" sz="1200" dirty="0"/>
          </a:p>
        </p:txBody>
      </p:sp>
      <p:sp>
        <p:nvSpPr>
          <p:cNvPr id="15" name="Text 13"/>
          <p:cNvSpPr txBox="1"/>
          <p:nvPr/>
        </p:nvSpPr>
        <p:spPr>
          <a:xfrm>
            <a:off x="2721803" y="1207008"/>
            <a:ext cx="2081723" cy="1760220"/>
          </a:xfrm>
          <a:prstGeom prst="rect">
            <a:avLst/>
          </a:prstGeom>
          <a:noFill/>
          <a:ln/>
        </p:spPr>
        <p:txBody>
          <a:bodyPr wrap="square" lIns="0" tIns="0" rIns="0" bIns="0" rtlCol="0" anchor="t"/>
          <a:lstStyle/>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Create &amp; publish events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Manage registrations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Process payments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Send event notifications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Track QR-based attendance</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Generate participation certificates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Collect feedback</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Generate event analytics &amp; reports</a:t>
            </a:r>
            <a:endParaRPr lang="en-US" sz="1050" dirty="0"/>
          </a:p>
        </p:txBody>
      </p:sp>
      <p:sp>
        <p:nvSpPr>
          <p:cNvPr id="16" name="Shape 14"/>
          <p:cNvSpPr/>
          <p:nvPr/>
        </p:nvSpPr>
        <p:spPr>
          <a:xfrm>
            <a:off x="2630363" y="3040380"/>
            <a:ext cx="2310323" cy="2263140"/>
          </a:xfrm>
          <a:prstGeom prst="rect">
            <a:avLst/>
          </a:prstGeom>
          <a:solidFill>
            <a:srgbClr val="FFFFFF"/>
          </a:solidFill>
          <a:ln w="12700">
            <a:solidFill>
              <a:srgbClr val="C9CFDD"/>
            </a:solidFill>
            <a:prstDash val="solid"/>
          </a:ln>
        </p:spPr>
      </p:sp>
      <p:sp>
        <p:nvSpPr>
          <p:cNvPr id="17" name="Shape 15"/>
          <p:cNvSpPr/>
          <p:nvPr/>
        </p:nvSpPr>
        <p:spPr>
          <a:xfrm>
            <a:off x="2630363" y="3040380"/>
            <a:ext cx="2310323" cy="365760"/>
          </a:xfrm>
          <a:prstGeom prst="rect">
            <a:avLst/>
          </a:prstGeom>
          <a:solidFill>
            <a:srgbClr val="EEF1FA"/>
          </a:solidFill>
          <a:ln w="12700">
            <a:solidFill>
              <a:srgbClr val="C9CFDD"/>
            </a:solidFill>
            <a:prstDash val="solid"/>
          </a:ln>
        </p:spPr>
      </p:sp>
      <p:sp>
        <p:nvSpPr>
          <p:cNvPr id="18" name="Shape 16"/>
          <p:cNvSpPr/>
          <p:nvPr/>
        </p:nvSpPr>
        <p:spPr>
          <a:xfrm>
            <a:off x="2721803" y="3104388"/>
            <a:ext cx="237744" cy="237744"/>
          </a:xfrm>
          <a:prstGeom prst="ellipse">
            <a:avLst/>
          </a:prstGeom>
          <a:solidFill>
            <a:srgbClr val="1F2A5C"/>
          </a:solidFill>
          <a:ln w="12700">
            <a:solidFill>
              <a:srgbClr val="1F2A5C"/>
            </a:solidFill>
            <a:prstDash val="solid"/>
          </a:ln>
        </p:spPr>
      </p:sp>
      <p:sp>
        <p:nvSpPr>
          <p:cNvPr id="19" name="Text 17"/>
          <p:cNvSpPr txBox="1"/>
          <p:nvPr/>
        </p:nvSpPr>
        <p:spPr>
          <a:xfrm>
            <a:off x="2721803" y="310438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a:t>
            </a:r>
            <a:endParaRPr lang="en-US" sz="950" dirty="0"/>
          </a:p>
        </p:txBody>
      </p:sp>
      <p:sp>
        <p:nvSpPr>
          <p:cNvPr id="20" name="Text 18"/>
          <p:cNvSpPr txBox="1"/>
          <p:nvPr/>
        </p:nvSpPr>
        <p:spPr>
          <a:xfrm>
            <a:off x="3032699" y="3040380"/>
            <a:ext cx="1853123" cy="365760"/>
          </a:xfrm>
          <a:prstGeom prst="rect">
            <a:avLst/>
          </a:prstGeom>
          <a:noFill/>
          <a:ln/>
        </p:spPr>
        <p:txBody>
          <a:bodyPr wrap="square" lIns="0" tIns="0" rIns="0" bIns="0" rtlCol="0" anchor="ctr"/>
          <a:lstStyle/>
          <a:p>
            <a:pPr indent="0" marL="0">
              <a:buNone/>
            </a:pPr>
            <a:r>
              <a:rPr lang="en-US" sz="1200" b="1" dirty="0">
                <a:solidFill>
                  <a:srgbClr val="1F2A5C"/>
                </a:solidFill>
                <a:latin typeface="Cambria" pitchFamily="34" charset="0"/>
                <a:ea typeface="Cambria" pitchFamily="34" charset="-122"/>
                <a:cs typeface="Cambria" pitchFamily="34" charset="-120"/>
              </a:rPr>
              <a:t>Key Resources</a:t>
            </a:r>
            <a:endParaRPr lang="en-US" sz="1200" dirty="0"/>
          </a:p>
        </p:txBody>
      </p:sp>
      <p:sp>
        <p:nvSpPr>
          <p:cNvPr id="21" name="Text 19"/>
          <p:cNvSpPr txBox="1"/>
          <p:nvPr/>
        </p:nvSpPr>
        <p:spPr>
          <a:xfrm>
            <a:off x="2721803" y="3470148"/>
            <a:ext cx="2081723" cy="1760220"/>
          </a:xfrm>
          <a:prstGeom prst="rect">
            <a:avLst/>
          </a:prstGeom>
          <a:noFill/>
          <a:ln/>
        </p:spPr>
        <p:txBody>
          <a:bodyPr wrap="square" lIns="0" tIns="0" rIns="0" bIns="0" rtlCol="0" anchor="t"/>
          <a:lstStyle/>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Web / Mobile Platform</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Cloud Infrastructure</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Development Team</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Centralized Database</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Payment Gateway Integration</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QR Attendance System</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Certificate Generation Engine</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Analytics Dashboard</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Notification System</a:t>
            </a:r>
            <a:endParaRPr lang="en-US" sz="1050" dirty="0"/>
          </a:p>
        </p:txBody>
      </p:sp>
      <p:sp>
        <p:nvSpPr>
          <p:cNvPr id="22" name="Shape 20"/>
          <p:cNvSpPr/>
          <p:nvPr/>
        </p:nvSpPr>
        <p:spPr>
          <a:xfrm>
            <a:off x="4940686" y="777240"/>
            <a:ext cx="2310323" cy="4526280"/>
          </a:xfrm>
          <a:prstGeom prst="rect">
            <a:avLst/>
          </a:prstGeom>
          <a:solidFill>
            <a:srgbClr val="FFFFFF"/>
          </a:solidFill>
          <a:ln w="12700">
            <a:solidFill>
              <a:srgbClr val="C9CFDD"/>
            </a:solidFill>
            <a:prstDash val="solid"/>
          </a:ln>
        </p:spPr>
      </p:sp>
      <p:sp>
        <p:nvSpPr>
          <p:cNvPr id="23" name="Shape 21"/>
          <p:cNvSpPr/>
          <p:nvPr/>
        </p:nvSpPr>
        <p:spPr>
          <a:xfrm>
            <a:off x="4940686" y="777240"/>
            <a:ext cx="2310323" cy="365760"/>
          </a:xfrm>
          <a:prstGeom prst="rect">
            <a:avLst/>
          </a:prstGeom>
          <a:solidFill>
            <a:srgbClr val="EEF1FA"/>
          </a:solidFill>
          <a:ln w="12700">
            <a:solidFill>
              <a:srgbClr val="C9CFDD"/>
            </a:solidFill>
            <a:prstDash val="solid"/>
          </a:ln>
        </p:spPr>
      </p:sp>
      <p:sp>
        <p:nvSpPr>
          <p:cNvPr id="24" name="Shape 22"/>
          <p:cNvSpPr/>
          <p:nvPr/>
        </p:nvSpPr>
        <p:spPr>
          <a:xfrm>
            <a:off x="5032126" y="841248"/>
            <a:ext cx="237744" cy="237744"/>
          </a:xfrm>
          <a:prstGeom prst="ellipse">
            <a:avLst/>
          </a:prstGeom>
          <a:solidFill>
            <a:srgbClr val="1F2A5C"/>
          </a:solidFill>
          <a:ln w="12700">
            <a:solidFill>
              <a:srgbClr val="1F2A5C"/>
            </a:solidFill>
            <a:prstDash val="solid"/>
          </a:ln>
        </p:spPr>
      </p:sp>
      <p:sp>
        <p:nvSpPr>
          <p:cNvPr id="25" name="Text 23"/>
          <p:cNvSpPr txBox="1"/>
          <p:nvPr/>
        </p:nvSpPr>
        <p:spPr>
          <a:xfrm>
            <a:off x="5032126" y="84124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26" name="Text 24"/>
          <p:cNvSpPr txBox="1"/>
          <p:nvPr/>
        </p:nvSpPr>
        <p:spPr>
          <a:xfrm>
            <a:off x="5343022" y="777240"/>
            <a:ext cx="1853123" cy="365760"/>
          </a:xfrm>
          <a:prstGeom prst="rect">
            <a:avLst/>
          </a:prstGeom>
          <a:noFill/>
          <a:ln/>
        </p:spPr>
        <p:txBody>
          <a:bodyPr wrap="square" lIns="0" tIns="0" rIns="0" bIns="0" rtlCol="0" anchor="ctr"/>
          <a:lstStyle/>
          <a:p>
            <a:pPr indent="0" marL="0">
              <a:buNone/>
            </a:pPr>
            <a:r>
              <a:rPr lang="en-US" sz="1200" b="1" dirty="0">
                <a:solidFill>
                  <a:srgbClr val="1F2A5C"/>
                </a:solidFill>
                <a:latin typeface="Cambria" pitchFamily="34" charset="0"/>
                <a:ea typeface="Cambria" pitchFamily="34" charset="-122"/>
                <a:cs typeface="Cambria" pitchFamily="34" charset="-120"/>
              </a:rPr>
              <a:t>Value Propositions</a:t>
            </a:r>
            <a:endParaRPr lang="en-US" sz="1200" dirty="0"/>
          </a:p>
        </p:txBody>
      </p:sp>
      <p:sp>
        <p:nvSpPr>
          <p:cNvPr id="27" name="Text 25"/>
          <p:cNvSpPr txBox="1"/>
          <p:nvPr/>
        </p:nvSpPr>
        <p:spPr>
          <a:xfrm>
            <a:off x="5032126" y="1207008"/>
            <a:ext cx="2081723" cy="4023360"/>
          </a:xfrm>
          <a:prstGeom prst="rect">
            <a:avLst/>
          </a:prstGeom>
          <a:noFill/>
          <a:ln/>
        </p:spPr>
        <p:txBody>
          <a:bodyPr wrap="square" lIns="0" tIns="0" rIns="0" bIns="0" rtlCol="0" anchor="t"/>
          <a:lstStyle/>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One platform for the complete event lifecycle</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Replaces disconnected Google Forms, WhatsApp, Excel and separate tools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Reduces manual work and data-entry errors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Real-time event and registration tracking</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Automated attendance and certificate generation</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Simplifies event management for organizers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Better experience for students and participants</a:t>
            </a:r>
            <a:endParaRPr lang="en-US" sz="1050" dirty="0"/>
          </a:p>
        </p:txBody>
      </p:sp>
      <p:sp>
        <p:nvSpPr>
          <p:cNvPr id="28" name="Shape 26"/>
          <p:cNvSpPr/>
          <p:nvPr/>
        </p:nvSpPr>
        <p:spPr>
          <a:xfrm>
            <a:off x="7251009" y="777240"/>
            <a:ext cx="2310323" cy="2263140"/>
          </a:xfrm>
          <a:prstGeom prst="rect">
            <a:avLst/>
          </a:prstGeom>
          <a:solidFill>
            <a:srgbClr val="FFFFFF"/>
          </a:solidFill>
          <a:ln w="12700">
            <a:solidFill>
              <a:srgbClr val="C9CFDD"/>
            </a:solidFill>
            <a:prstDash val="solid"/>
          </a:ln>
        </p:spPr>
      </p:sp>
      <p:sp>
        <p:nvSpPr>
          <p:cNvPr id="29" name="Shape 27"/>
          <p:cNvSpPr/>
          <p:nvPr/>
        </p:nvSpPr>
        <p:spPr>
          <a:xfrm>
            <a:off x="7251009" y="777240"/>
            <a:ext cx="2310323" cy="365760"/>
          </a:xfrm>
          <a:prstGeom prst="rect">
            <a:avLst/>
          </a:prstGeom>
          <a:solidFill>
            <a:srgbClr val="EEF1FA"/>
          </a:solidFill>
          <a:ln w="12700">
            <a:solidFill>
              <a:srgbClr val="C9CFDD"/>
            </a:solidFill>
            <a:prstDash val="solid"/>
          </a:ln>
        </p:spPr>
      </p:sp>
      <p:sp>
        <p:nvSpPr>
          <p:cNvPr id="30" name="Shape 28"/>
          <p:cNvSpPr/>
          <p:nvPr/>
        </p:nvSpPr>
        <p:spPr>
          <a:xfrm>
            <a:off x="7342449" y="841248"/>
            <a:ext cx="237744" cy="237744"/>
          </a:xfrm>
          <a:prstGeom prst="ellipse">
            <a:avLst/>
          </a:prstGeom>
          <a:solidFill>
            <a:srgbClr val="1F2A5C"/>
          </a:solidFill>
          <a:ln w="12700">
            <a:solidFill>
              <a:srgbClr val="1F2A5C"/>
            </a:solidFill>
            <a:prstDash val="solid"/>
          </a:ln>
        </p:spPr>
      </p:sp>
      <p:sp>
        <p:nvSpPr>
          <p:cNvPr id="31" name="Text 29"/>
          <p:cNvSpPr txBox="1"/>
          <p:nvPr/>
        </p:nvSpPr>
        <p:spPr>
          <a:xfrm>
            <a:off x="7342449" y="84124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32" name="Text 30"/>
          <p:cNvSpPr txBox="1"/>
          <p:nvPr/>
        </p:nvSpPr>
        <p:spPr>
          <a:xfrm>
            <a:off x="7653345" y="777240"/>
            <a:ext cx="1853123" cy="365760"/>
          </a:xfrm>
          <a:prstGeom prst="rect">
            <a:avLst/>
          </a:prstGeom>
          <a:noFill/>
          <a:ln/>
        </p:spPr>
        <p:txBody>
          <a:bodyPr wrap="square" lIns="0" tIns="0" rIns="0" bIns="0" rtlCol="0" anchor="ctr"/>
          <a:lstStyle/>
          <a:p>
            <a:pPr indent="0" marL="0">
              <a:buNone/>
            </a:pPr>
            <a:r>
              <a:rPr lang="en-US" sz="1200" b="1" dirty="0">
                <a:solidFill>
                  <a:srgbClr val="1F2A5C"/>
                </a:solidFill>
                <a:latin typeface="Cambria" pitchFamily="34" charset="0"/>
                <a:ea typeface="Cambria" pitchFamily="34" charset="-122"/>
                <a:cs typeface="Cambria" pitchFamily="34" charset="-120"/>
              </a:rPr>
              <a:t>Customer Relationships</a:t>
            </a:r>
            <a:endParaRPr lang="en-US" sz="1200" dirty="0"/>
          </a:p>
        </p:txBody>
      </p:sp>
      <p:sp>
        <p:nvSpPr>
          <p:cNvPr id="33" name="Text 31"/>
          <p:cNvSpPr txBox="1"/>
          <p:nvPr/>
        </p:nvSpPr>
        <p:spPr>
          <a:xfrm>
            <a:off x="7342449" y="1207008"/>
            <a:ext cx="2081723" cy="1760220"/>
          </a:xfrm>
          <a:prstGeom prst="rect">
            <a:avLst/>
          </a:prstGeom>
          <a:noFill/>
          <a:ln/>
        </p:spPr>
        <p:txBody>
          <a:bodyPr wrap="square" lIns="0" tIns="0" rIns="0" bIns="0" rtlCol="0" anchor="t"/>
          <a:lstStyle/>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Self-service event management</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In-platform notifications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Admin dashboard and support</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College onboarding and training</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Feedback collection</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Student event discovery</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Customer support for organizers</a:t>
            </a:r>
            <a:endParaRPr lang="en-US" sz="1050" dirty="0"/>
          </a:p>
        </p:txBody>
      </p:sp>
      <p:sp>
        <p:nvSpPr>
          <p:cNvPr id="34" name="Shape 32"/>
          <p:cNvSpPr/>
          <p:nvPr/>
        </p:nvSpPr>
        <p:spPr>
          <a:xfrm>
            <a:off x="7251009" y="3040380"/>
            <a:ext cx="2310323" cy="2263140"/>
          </a:xfrm>
          <a:prstGeom prst="rect">
            <a:avLst/>
          </a:prstGeom>
          <a:solidFill>
            <a:srgbClr val="FFFFFF"/>
          </a:solidFill>
          <a:ln w="12700">
            <a:solidFill>
              <a:srgbClr val="C9CFDD"/>
            </a:solidFill>
            <a:prstDash val="solid"/>
          </a:ln>
        </p:spPr>
      </p:sp>
      <p:sp>
        <p:nvSpPr>
          <p:cNvPr id="35" name="Shape 33"/>
          <p:cNvSpPr/>
          <p:nvPr/>
        </p:nvSpPr>
        <p:spPr>
          <a:xfrm>
            <a:off x="7251009" y="3040380"/>
            <a:ext cx="2310323" cy="365760"/>
          </a:xfrm>
          <a:prstGeom prst="rect">
            <a:avLst/>
          </a:prstGeom>
          <a:solidFill>
            <a:srgbClr val="EEF1FA"/>
          </a:solidFill>
          <a:ln w="12700">
            <a:solidFill>
              <a:srgbClr val="C9CFDD"/>
            </a:solidFill>
            <a:prstDash val="solid"/>
          </a:ln>
        </p:spPr>
      </p:sp>
      <p:sp>
        <p:nvSpPr>
          <p:cNvPr id="36" name="Shape 34"/>
          <p:cNvSpPr/>
          <p:nvPr/>
        </p:nvSpPr>
        <p:spPr>
          <a:xfrm>
            <a:off x="7342449" y="3104388"/>
            <a:ext cx="237744" cy="237744"/>
          </a:xfrm>
          <a:prstGeom prst="ellipse">
            <a:avLst/>
          </a:prstGeom>
          <a:solidFill>
            <a:srgbClr val="1F2A5C"/>
          </a:solidFill>
          <a:ln w="12700">
            <a:solidFill>
              <a:srgbClr val="1F2A5C"/>
            </a:solidFill>
            <a:prstDash val="solid"/>
          </a:ln>
        </p:spPr>
      </p:sp>
      <p:sp>
        <p:nvSpPr>
          <p:cNvPr id="37" name="Text 35"/>
          <p:cNvSpPr txBox="1"/>
          <p:nvPr/>
        </p:nvSpPr>
        <p:spPr>
          <a:xfrm>
            <a:off x="7342449" y="310438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38" name="Text 36"/>
          <p:cNvSpPr txBox="1"/>
          <p:nvPr/>
        </p:nvSpPr>
        <p:spPr>
          <a:xfrm>
            <a:off x="7653345" y="3040380"/>
            <a:ext cx="1853123" cy="365760"/>
          </a:xfrm>
          <a:prstGeom prst="rect">
            <a:avLst/>
          </a:prstGeom>
          <a:noFill/>
          <a:ln/>
        </p:spPr>
        <p:txBody>
          <a:bodyPr wrap="square" lIns="0" tIns="0" rIns="0" bIns="0" rtlCol="0" anchor="ctr"/>
          <a:lstStyle/>
          <a:p>
            <a:pPr indent="0" marL="0">
              <a:buNone/>
            </a:pPr>
            <a:r>
              <a:rPr lang="en-US" sz="1200" b="1" dirty="0">
                <a:solidFill>
                  <a:srgbClr val="1F2A5C"/>
                </a:solidFill>
                <a:latin typeface="Cambria" pitchFamily="34" charset="0"/>
                <a:ea typeface="Cambria" pitchFamily="34" charset="-122"/>
                <a:cs typeface="Cambria" pitchFamily="34" charset="-120"/>
              </a:rPr>
              <a:t>Channels</a:t>
            </a:r>
            <a:endParaRPr lang="en-US" sz="1200" dirty="0"/>
          </a:p>
        </p:txBody>
      </p:sp>
      <p:sp>
        <p:nvSpPr>
          <p:cNvPr id="39" name="Text 37"/>
          <p:cNvSpPr txBox="1"/>
          <p:nvPr/>
        </p:nvSpPr>
        <p:spPr>
          <a:xfrm>
            <a:off x="7342449" y="3470148"/>
            <a:ext cx="2081723" cy="1760220"/>
          </a:xfrm>
          <a:prstGeom prst="rect">
            <a:avLst/>
          </a:prstGeom>
          <a:noFill/>
          <a:ln/>
        </p:spPr>
        <p:txBody>
          <a:bodyPr wrap="square" lIns="0" tIns="0" rIns="0" bIns="0" rtlCol="0" anchor="t"/>
          <a:lstStyle/>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Direct College Partnerships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College Websites / Portals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Student Clubs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Campus Demonstrations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Social Media</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Institutional Referrals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College Events &amp; Workshops</a:t>
            </a:r>
            <a:endParaRPr lang="en-US" sz="1050" dirty="0"/>
          </a:p>
        </p:txBody>
      </p:sp>
      <p:sp>
        <p:nvSpPr>
          <p:cNvPr id="40" name="Shape 38"/>
          <p:cNvSpPr/>
          <p:nvPr/>
        </p:nvSpPr>
        <p:spPr>
          <a:xfrm>
            <a:off x="9561332" y="777240"/>
            <a:ext cx="2310323" cy="4526280"/>
          </a:xfrm>
          <a:prstGeom prst="rect">
            <a:avLst/>
          </a:prstGeom>
          <a:solidFill>
            <a:srgbClr val="FFFFFF"/>
          </a:solidFill>
          <a:ln w="12700">
            <a:solidFill>
              <a:srgbClr val="C9CFDD"/>
            </a:solidFill>
            <a:prstDash val="solid"/>
          </a:ln>
        </p:spPr>
      </p:sp>
      <p:sp>
        <p:nvSpPr>
          <p:cNvPr id="41" name="Shape 39"/>
          <p:cNvSpPr/>
          <p:nvPr/>
        </p:nvSpPr>
        <p:spPr>
          <a:xfrm>
            <a:off x="9561332" y="777240"/>
            <a:ext cx="2310323" cy="365760"/>
          </a:xfrm>
          <a:prstGeom prst="rect">
            <a:avLst/>
          </a:prstGeom>
          <a:solidFill>
            <a:srgbClr val="EEF1FA"/>
          </a:solidFill>
          <a:ln w="12700">
            <a:solidFill>
              <a:srgbClr val="C9CFDD"/>
            </a:solidFill>
            <a:prstDash val="solid"/>
          </a:ln>
        </p:spPr>
      </p:sp>
      <p:sp>
        <p:nvSpPr>
          <p:cNvPr id="42" name="Shape 40"/>
          <p:cNvSpPr/>
          <p:nvPr/>
        </p:nvSpPr>
        <p:spPr>
          <a:xfrm>
            <a:off x="9652772" y="841248"/>
            <a:ext cx="237744" cy="237744"/>
          </a:xfrm>
          <a:prstGeom prst="ellipse">
            <a:avLst/>
          </a:prstGeom>
          <a:solidFill>
            <a:srgbClr val="1F2A5C"/>
          </a:solidFill>
          <a:ln w="12700">
            <a:solidFill>
              <a:srgbClr val="1F2A5C"/>
            </a:solidFill>
            <a:prstDash val="solid"/>
          </a:ln>
        </p:spPr>
      </p:sp>
      <p:sp>
        <p:nvSpPr>
          <p:cNvPr id="43" name="Text 41"/>
          <p:cNvSpPr txBox="1"/>
          <p:nvPr/>
        </p:nvSpPr>
        <p:spPr>
          <a:xfrm>
            <a:off x="9652772" y="84124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44" name="Text 42"/>
          <p:cNvSpPr txBox="1"/>
          <p:nvPr/>
        </p:nvSpPr>
        <p:spPr>
          <a:xfrm>
            <a:off x="9963668" y="777240"/>
            <a:ext cx="1853123" cy="365760"/>
          </a:xfrm>
          <a:prstGeom prst="rect">
            <a:avLst/>
          </a:prstGeom>
          <a:noFill/>
          <a:ln/>
        </p:spPr>
        <p:txBody>
          <a:bodyPr wrap="square" lIns="0" tIns="0" rIns="0" bIns="0" rtlCol="0" anchor="ctr"/>
          <a:lstStyle/>
          <a:p>
            <a:pPr indent="0" marL="0">
              <a:buNone/>
            </a:pPr>
            <a:r>
              <a:rPr lang="en-US" sz="1200" b="1" dirty="0">
                <a:solidFill>
                  <a:srgbClr val="1F2A5C"/>
                </a:solidFill>
                <a:latin typeface="Cambria" pitchFamily="34" charset="0"/>
                <a:ea typeface="Cambria" pitchFamily="34" charset="-122"/>
                <a:cs typeface="Cambria" pitchFamily="34" charset="-120"/>
              </a:rPr>
              <a:t>Customer Segments</a:t>
            </a:r>
            <a:endParaRPr lang="en-US" sz="1200" dirty="0"/>
          </a:p>
        </p:txBody>
      </p:sp>
      <p:sp>
        <p:nvSpPr>
          <p:cNvPr id="45" name="Text 43"/>
          <p:cNvSpPr txBox="1"/>
          <p:nvPr/>
        </p:nvSpPr>
        <p:spPr>
          <a:xfrm>
            <a:off x="9652772" y="1207008"/>
            <a:ext cx="2081723" cy="4023360"/>
          </a:xfrm>
          <a:prstGeom prst="rect">
            <a:avLst/>
          </a:prstGeom>
          <a:noFill/>
          <a:ln/>
        </p:spPr>
        <p:txBody>
          <a:bodyPr wrap="square" lIns="0" tIns="0" rIns="0" bIns="0" rtlCol="0" anchor="t"/>
          <a:lstStyle/>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Colleges &amp; Universities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College Event Coordinators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Student Clubs &amp; Committees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Faculty Coordinators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Students &amp; Participants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College Administration</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External Event Participants</a:t>
            </a:r>
            <a:endParaRPr lang="en-US" sz="1050" dirty="0"/>
          </a:p>
        </p:txBody>
      </p:sp>
      <p:sp>
        <p:nvSpPr>
          <p:cNvPr id="46" name="Shape 44"/>
          <p:cNvSpPr/>
          <p:nvPr/>
        </p:nvSpPr>
        <p:spPr>
          <a:xfrm>
            <a:off x="320040" y="5303520"/>
            <a:ext cx="5775808" cy="1325880"/>
          </a:xfrm>
          <a:prstGeom prst="rect">
            <a:avLst/>
          </a:prstGeom>
          <a:solidFill>
            <a:srgbClr val="FFFFFF"/>
          </a:solidFill>
          <a:ln w="12700">
            <a:solidFill>
              <a:srgbClr val="C9CFDD"/>
            </a:solidFill>
            <a:prstDash val="solid"/>
          </a:ln>
        </p:spPr>
      </p:sp>
      <p:sp>
        <p:nvSpPr>
          <p:cNvPr id="47" name="Shape 45"/>
          <p:cNvSpPr/>
          <p:nvPr/>
        </p:nvSpPr>
        <p:spPr>
          <a:xfrm>
            <a:off x="320040" y="5303520"/>
            <a:ext cx="5775808" cy="365760"/>
          </a:xfrm>
          <a:prstGeom prst="rect">
            <a:avLst/>
          </a:prstGeom>
          <a:solidFill>
            <a:srgbClr val="EEF1FA"/>
          </a:solidFill>
          <a:ln w="12700">
            <a:solidFill>
              <a:srgbClr val="C9CFDD"/>
            </a:solidFill>
            <a:prstDash val="solid"/>
          </a:ln>
        </p:spPr>
      </p:sp>
      <p:sp>
        <p:nvSpPr>
          <p:cNvPr id="48" name="Shape 46"/>
          <p:cNvSpPr/>
          <p:nvPr/>
        </p:nvSpPr>
        <p:spPr>
          <a:xfrm>
            <a:off x="411480" y="5367528"/>
            <a:ext cx="237744" cy="237744"/>
          </a:xfrm>
          <a:prstGeom prst="ellipse">
            <a:avLst/>
          </a:prstGeom>
          <a:solidFill>
            <a:srgbClr val="1F2A5C"/>
          </a:solidFill>
          <a:ln w="12700">
            <a:solidFill>
              <a:srgbClr val="1F2A5C"/>
            </a:solidFill>
            <a:prstDash val="solid"/>
          </a:ln>
        </p:spPr>
      </p:sp>
      <p:sp>
        <p:nvSpPr>
          <p:cNvPr id="49" name="Text 47"/>
          <p:cNvSpPr txBox="1"/>
          <p:nvPr/>
        </p:nvSpPr>
        <p:spPr>
          <a:xfrm>
            <a:off x="411480" y="536752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9</a:t>
            </a:r>
            <a:endParaRPr lang="en-US" sz="950" dirty="0"/>
          </a:p>
        </p:txBody>
      </p:sp>
      <p:sp>
        <p:nvSpPr>
          <p:cNvPr id="50" name="Text 48"/>
          <p:cNvSpPr txBox="1"/>
          <p:nvPr/>
        </p:nvSpPr>
        <p:spPr>
          <a:xfrm>
            <a:off x="722376" y="5303520"/>
            <a:ext cx="5318608" cy="365760"/>
          </a:xfrm>
          <a:prstGeom prst="rect">
            <a:avLst/>
          </a:prstGeom>
          <a:noFill/>
          <a:ln/>
        </p:spPr>
        <p:txBody>
          <a:bodyPr wrap="square" lIns="0" tIns="0" rIns="0" bIns="0" rtlCol="0" anchor="ctr"/>
          <a:lstStyle/>
          <a:p>
            <a:pPr indent="0" marL="0">
              <a:buNone/>
            </a:pPr>
            <a:r>
              <a:rPr lang="en-US" sz="1200" b="1" dirty="0">
                <a:solidFill>
                  <a:srgbClr val="1F2A5C"/>
                </a:solidFill>
                <a:latin typeface="Cambria" pitchFamily="34" charset="0"/>
                <a:ea typeface="Cambria" pitchFamily="34" charset="-122"/>
                <a:cs typeface="Cambria" pitchFamily="34" charset="-120"/>
              </a:rPr>
              <a:t>Cost Structure</a:t>
            </a:r>
            <a:endParaRPr lang="en-US" sz="1200" dirty="0"/>
          </a:p>
        </p:txBody>
      </p:sp>
      <p:sp>
        <p:nvSpPr>
          <p:cNvPr id="51" name="Text 49"/>
          <p:cNvSpPr txBox="1"/>
          <p:nvPr/>
        </p:nvSpPr>
        <p:spPr>
          <a:xfrm>
            <a:off x="411480" y="5733288"/>
            <a:ext cx="2750744" cy="822960"/>
          </a:xfrm>
          <a:prstGeom prst="rect">
            <a:avLst/>
          </a:prstGeom>
          <a:noFill/>
          <a:ln/>
        </p:spPr>
        <p:txBody>
          <a:bodyPr wrap="square" lIns="0" tIns="0" rIns="0" bIns="0" rtlCol="0" anchor="t"/>
          <a:lstStyle/>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Software Development &amp; Maintenance</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Cloud Hosting &amp; Storage</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Database Costs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Payment Gateway / API Costs</a:t>
            </a:r>
            <a:endParaRPr lang="en-US" sz="1050" dirty="0"/>
          </a:p>
        </p:txBody>
      </p:sp>
      <p:sp>
        <p:nvSpPr>
          <p:cNvPr id="52" name="Text 50"/>
          <p:cNvSpPr txBox="1"/>
          <p:nvPr/>
        </p:nvSpPr>
        <p:spPr>
          <a:xfrm>
            <a:off x="3207944" y="5733288"/>
            <a:ext cx="2750744" cy="822960"/>
          </a:xfrm>
          <a:prstGeom prst="rect">
            <a:avLst/>
          </a:prstGeom>
          <a:noFill/>
          <a:ln/>
        </p:spPr>
        <p:txBody>
          <a:bodyPr wrap="square" lIns="0" tIns="0" rIns="0" bIns="0" rtlCol="0" anchor="t"/>
          <a:lstStyle/>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SMS &amp; Email Notification Costs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Security &amp; Compliance</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Marketing &amp; Customer Acquisition</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Technical Support &amp; Customer Support</a:t>
            </a:r>
            <a:endParaRPr lang="en-US" sz="1050" dirty="0"/>
          </a:p>
        </p:txBody>
      </p:sp>
      <p:sp>
        <p:nvSpPr>
          <p:cNvPr id="53" name="Shape 51"/>
          <p:cNvSpPr/>
          <p:nvPr/>
        </p:nvSpPr>
        <p:spPr>
          <a:xfrm>
            <a:off x="6095848" y="5303520"/>
            <a:ext cx="5775808" cy="1325880"/>
          </a:xfrm>
          <a:prstGeom prst="rect">
            <a:avLst/>
          </a:prstGeom>
          <a:solidFill>
            <a:srgbClr val="FFFFFF"/>
          </a:solidFill>
          <a:ln w="12700">
            <a:solidFill>
              <a:srgbClr val="C9CFDD"/>
            </a:solidFill>
            <a:prstDash val="solid"/>
          </a:ln>
        </p:spPr>
      </p:sp>
      <p:sp>
        <p:nvSpPr>
          <p:cNvPr id="54" name="Shape 52"/>
          <p:cNvSpPr/>
          <p:nvPr/>
        </p:nvSpPr>
        <p:spPr>
          <a:xfrm>
            <a:off x="6095848" y="5303520"/>
            <a:ext cx="5775808" cy="365760"/>
          </a:xfrm>
          <a:prstGeom prst="rect">
            <a:avLst/>
          </a:prstGeom>
          <a:solidFill>
            <a:srgbClr val="EEF1FA"/>
          </a:solidFill>
          <a:ln w="12700">
            <a:solidFill>
              <a:srgbClr val="C9CFDD"/>
            </a:solidFill>
            <a:prstDash val="solid"/>
          </a:ln>
        </p:spPr>
      </p:sp>
      <p:sp>
        <p:nvSpPr>
          <p:cNvPr id="55" name="Shape 53"/>
          <p:cNvSpPr/>
          <p:nvPr/>
        </p:nvSpPr>
        <p:spPr>
          <a:xfrm>
            <a:off x="6187288" y="5367528"/>
            <a:ext cx="237744" cy="237744"/>
          </a:xfrm>
          <a:prstGeom prst="ellipse">
            <a:avLst/>
          </a:prstGeom>
          <a:solidFill>
            <a:srgbClr val="1F2A5C"/>
          </a:solidFill>
          <a:ln w="12700">
            <a:solidFill>
              <a:srgbClr val="1F2A5C"/>
            </a:solidFill>
            <a:prstDash val="solid"/>
          </a:ln>
        </p:spPr>
      </p:sp>
      <p:sp>
        <p:nvSpPr>
          <p:cNvPr id="56" name="Text 54"/>
          <p:cNvSpPr txBox="1"/>
          <p:nvPr/>
        </p:nvSpPr>
        <p:spPr>
          <a:xfrm>
            <a:off x="6187288" y="536752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a:t>
            </a:r>
            <a:endParaRPr lang="en-US" sz="950" dirty="0"/>
          </a:p>
        </p:txBody>
      </p:sp>
      <p:sp>
        <p:nvSpPr>
          <p:cNvPr id="57" name="Text 55"/>
          <p:cNvSpPr txBox="1"/>
          <p:nvPr/>
        </p:nvSpPr>
        <p:spPr>
          <a:xfrm>
            <a:off x="6498184" y="5303520"/>
            <a:ext cx="5318608" cy="365760"/>
          </a:xfrm>
          <a:prstGeom prst="rect">
            <a:avLst/>
          </a:prstGeom>
          <a:noFill/>
          <a:ln/>
        </p:spPr>
        <p:txBody>
          <a:bodyPr wrap="square" lIns="0" tIns="0" rIns="0" bIns="0" rtlCol="0" anchor="ctr"/>
          <a:lstStyle/>
          <a:p>
            <a:pPr indent="0" marL="0">
              <a:buNone/>
            </a:pPr>
            <a:r>
              <a:rPr lang="en-US" sz="1200" b="1" dirty="0">
                <a:solidFill>
                  <a:srgbClr val="1F2A5C"/>
                </a:solidFill>
                <a:latin typeface="Cambria" pitchFamily="34" charset="0"/>
                <a:ea typeface="Cambria" pitchFamily="34" charset="-122"/>
                <a:cs typeface="Cambria" pitchFamily="34" charset="-120"/>
              </a:rPr>
              <a:t>Revenue Streams</a:t>
            </a:r>
            <a:endParaRPr lang="en-US" sz="1200" dirty="0"/>
          </a:p>
        </p:txBody>
      </p:sp>
      <p:sp>
        <p:nvSpPr>
          <p:cNvPr id="58" name="Text 56"/>
          <p:cNvSpPr txBox="1"/>
          <p:nvPr/>
        </p:nvSpPr>
        <p:spPr>
          <a:xfrm>
            <a:off x="6187288" y="5733288"/>
            <a:ext cx="2750744" cy="822960"/>
          </a:xfrm>
          <a:prstGeom prst="rect">
            <a:avLst/>
          </a:prstGeom>
          <a:noFill/>
          <a:ln/>
        </p:spPr>
        <p:txBody>
          <a:bodyPr wrap="square" lIns="0" tIns="0" rIns="0" bIns="0" rtlCol="0" anchor="t"/>
          <a:lstStyle/>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Institutional Subscription Plans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Annual College Licensing</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Per-Event Pricing</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Premium Analytics &amp; Automation</a:t>
            </a:r>
            <a:endParaRPr lang="en-US" sz="1050" dirty="0"/>
          </a:p>
        </p:txBody>
      </p:sp>
      <p:sp>
        <p:nvSpPr>
          <p:cNvPr id="59" name="Text 57"/>
          <p:cNvSpPr txBox="1"/>
          <p:nvPr/>
        </p:nvSpPr>
        <p:spPr>
          <a:xfrm>
            <a:off x="8983751" y="5733288"/>
            <a:ext cx="2750744" cy="822960"/>
          </a:xfrm>
          <a:prstGeom prst="rect">
            <a:avLst/>
          </a:prstGeom>
          <a:noFill/>
          <a:ln/>
        </p:spPr>
        <p:txBody>
          <a:bodyPr wrap="square" lIns="0" tIns="0" rIns="0" bIns="0" rtlCol="0" anchor="t"/>
          <a:lstStyle/>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Optional Service / Payment Processing Fee</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Sponsorship Opportunities for Large Events</a:t>
            </a:r>
            <a:endParaRPr lang="en-US" sz="1050" dirty="0"/>
          </a:p>
          <a:p>
            <a:pPr marL="139700" indent="-139700">
              <a:spcAft>
                <a:spcPts val="250"/>
              </a:spcAft>
              <a:buSzPct val="100000"/>
              <a:buChar char="•"/>
            </a:pPr>
            <a:r>
              <a:rPr lang="en-US" sz="1050" dirty="0">
                <a:solidFill>
                  <a:srgbClr val="1B2130"/>
                </a:solidFill>
                <a:latin typeface="Calibri" pitchFamily="34" charset="0"/>
                <a:ea typeface="Calibri" pitchFamily="34" charset="-122"/>
                <a:cs typeface="Calibri" pitchFamily="34" charset="-120"/>
              </a:rPr>
              <a:t>Premium Add-on Features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Event Management Platform — Business Model Canvas</dc:title>
  <dc:subject>PptxGenJS Presentation</dc:subject>
  <dc:creator>Apex Vision (Team 29)</dc:creator>
  <cp:lastModifiedBy>Apex Vision (Team 29)</cp:lastModifiedBy>
  <cp:revision>1</cp:revision>
  <dcterms:created xsi:type="dcterms:W3CDTF">2026-09-28T17:54:37Z</dcterms:created>
  <dcterms:modified xsi:type="dcterms:W3CDTF">2026-09-28T17:54:37Z</dcterms:modified>
</cp:coreProperties>
</file>